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692000" cx="1512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76cC6EUU8q04BFe7uwmSXfOPe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A1AC3-6CD6-4BDA-AF74-08EC74217534}">
  <a:tblStyle styleId="{53CA1AC3-6CD6-4BDA-AF74-08EC742175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004673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134000" y="1749826"/>
            <a:ext cx="12852000" cy="37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32"/>
              <a:buFont typeface="Calibri"/>
              <a:buNone/>
              <a:defRPr sz="9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890000" y="5615777"/>
            <a:ext cx="113400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lvl="0" algn="ctr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3893"/>
              <a:buNone/>
              <a:defRPr sz="3891"/>
            </a:lvl1pPr>
            <a:lvl2pPr lvl="1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3"/>
            </a:lvl2pPr>
            <a:lvl3pPr lvl="2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None/>
              <a:defRPr sz="2919"/>
            </a:lvl3pPr>
            <a:lvl4pPr lvl="3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4pPr>
            <a:lvl5pPr lvl="4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5pPr>
            <a:lvl6pPr lvl="5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6pPr>
            <a:lvl7pPr lvl="6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7pPr>
            <a:lvl8pPr lvl="7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8pPr>
            <a:lvl9pPr lvl="8" algn="ctr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1039500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1039500" y="2846251"/>
            <a:ext cx="13041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1031626" y="2665578"/>
            <a:ext cx="13041000" cy="44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32"/>
              <a:buFont typeface="Calibri"/>
              <a:buNone/>
              <a:defRPr sz="9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1031626" y="7155228"/>
            <a:ext cx="130410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3893"/>
              <a:buNone/>
              <a:defRPr sz="389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3244"/>
              <a:buNone/>
              <a:defRPr sz="3243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920"/>
              <a:buNone/>
              <a:defRPr sz="291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rgbClr val="888888"/>
              </a:buClr>
              <a:buSzPts val="2595"/>
              <a:buNone/>
              <a:defRPr sz="259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1039500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1039500" y="2846251"/>
            <a:ext cx="6426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7654500" y="2846251"/>
            <a:ext cx="6426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1041469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1041472" y="2621028"/>
            <a:ext cx="63966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3893"/>
              <a:buNone/>
              <a:defRPr b="1" sz="3891"/>
            </a:lvl1pPr>
            <a:lvl2pPr indent="-228600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b="1" sz="3243"/>
            </a:lvl2pPr>
            <a:lvl3pPr indent="-228600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None/>
              <a:defRPr b="1" sz="2919"/>
            </a:lvl3pPr>
            <a:lvl4pPr indent="-228600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4pPr>
            <a:lvl5pPr indent="-228600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5pPr>
            <a:lvl6pPr indent="-228600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6pPr>
            <a:lvl7pPr indent="-228600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7pPr>
            <a:lvl8pPr indent="-228600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8pPr>
            <a:lvl9pPr indent="-228600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1041472" y="3905552"/>
            <a:ext cx="63966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7654502" y="2621028"/>
            <a:ext cx="64281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3893"/>
              <a:buNone/>
              <a:defRPr b="1" sz="3891"/>
            </a:lvl1pPr>
            <a:lvl2pPr indent="-228600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b="1" sz="3243"/>
            </a:lvl2pPr>
            <a:lvl3pPr indent="-228600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None/>
              <a:defRPr b="1" sz="2919"/>
            </a:lvl3pPr>
            <a:lvl4pPr indent="-228600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4pPr>
            <a:lvl5pPr indent="-228600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5pPr>
            <a:lvl6pPr indent="-228600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6pPr>
            <a:lvl7pPr indent="-228600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7pPr>
            <a:lvl8pPr indent="-228600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8pPr>
            <a:lvl9pPr indent="-228600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b="1" sz="2595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7654502" y="3905552"/>
            <a:ext cx="64281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1039500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1041471" y="712800"/>
            <a:ext cx="48765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1"/>
              <a:buFont typeface="Calibri"/>
              <a:buNone/>
              <a:defRPr sz="519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6427969" y="1539454"/>
            <a:ext cx="7654500" cy="7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558228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5191"/>
              <a:buChar char="•"/>
              <a:defRPr sz="5190"/>
            </a:lvl1pPr>
            <a:lvl2pPr indent="-51701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542"/>
              <a:buChar char="•"/>
              <a:defRPr sz="4541"/>
            </a:lvl2pPr>
            <a:lvl3pPr indent="-475805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893"/>
              <a:buChar char="•"/>
              <a:defRPr sz="3891"/>
            </a:lvl3pPr>
            <a:lvl4pPr indent="-434594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4pPr>
            <a:lvl5pPr indent="-434594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5pPr>
            <a:lvl6pPr indent="-434594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6pPr>
            <a:lvl7pPr indent="-434594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7pPr>
            <a:lvl8pPr indent="-434594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8pPr>
            <a:lvl9pPr indent="-434594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3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1041471" y="3207600"/>
            <a:ext cx="48765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1pPr>
            <a:lvl2pPr indent="-228600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271"/>
              <a:buNone/>
              <a:defRPr sz="2270"/>
            </a:lvl2pPr>
            <a:lvl3pPr indent="-228600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946"/>
              <a:buNone/>
              <a:defRPr sz="1945"/>
            </a:lvl3pPr>
            <a:lvl4pPr indent="-228600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4pPr>
            <a:lvl5pPr indent="-228600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5pPr>
            <a:lvl6pPr indent="-228600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6pPr>
            <a:lvl7pPr indent="-228600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7pPr>
            <a:lvl8pPr indent="-228600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8pPr>
            <a:lvl9pPr indent="-228600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041471" y="712800"/>
            <a:ext cx="48765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1"/>
              <a:buFont typeface="Calibri"/>
              <a:buNone/>
              <a:defRPr sz="519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6427969" y="1539454"/>
            <a:ext cx="76545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041471" y="3207600"/>
            <a:ext cx="48765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595"/>
              <a:buNone/>
              <a:defRPr sz="2595"/>
            </a:lvl1pPr>
            <a:lvl2pPr indent="-228600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271"/>
              <a:buNone/>
              <a:defRPr sz="2270"/>
            </a:lvl2pPr>
            <a:lvl3pPr indent="-228600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946"/>
              <a:buNone/>
              <a:defRPr sz="1945"/>
            </a:lvl3pPr>
            <a:lvl4pPr indent="-228600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4pPr>
            <a:lvl5pPr indent="-228600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5pPr>
            <a:lvl6pPr indent="-228600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6pPr>
            <a:lvl7pPr indent="-228600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7pPr>
            <a:lvl8pPr indent="-228600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8pPr>
            <a:lvl9pPr indent="-228600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1622"/>
              <a:buNone/>
              <a:defRPr sz="1621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1039500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4168050" y="-282299"/>
            <a:ext cx="6783900" cy="13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920002" y="3469652"/>
            <a:ext cx="90609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None/>
              <a:defRPr sz="713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305002" y="303902"/>
            <a:ext cx="9060900" cy="9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360997" lvl="0" marL="45720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4541"/>
            </a:lvl1pPr>
            <a:lvl2pPr indent="-360997" lvl="1" marL="914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891"/>
            </a:lvl2pPr>
            <a:lvl3pPr indent="-360997" lvl="2" marL="1371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3243"/>
            </a:lvl3pPr>
            <a:lvl4pPr indent="-360997" lvl="3" marL="1828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4pPr>
            <a:lvl5pPr indent="-360997" lvl="4" marL="22860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5pPr>
            <a:lvl6pPr indent="-360997" lvl="5" marL="27432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6pPr>
            <a:lvl7pPr indent="-360997" lvl="6" marL="32004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7pPr>
            <a:lvl8pPr indent="-360997" lvl="7" marL="36576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8pPr>
            <a:lvl9pPr indent="-360997" lvl="8" marL="411480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085"/>
              <a:buChar char="•"/>
              <a:defRPr sz="2919"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19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2"/>
              <a:buNone/>
              <a:defRPr sz="2085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1039500" y="569252"/>
            <a:ext cx="130410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37"/>
              <a:buFont typeface="Calibri"/>
              <a:buNone/>
              <a:defRPr b="0" i="0" sz="71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1039500" y="2846251"/>
            <a:ext cx="13041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normAutofit/>
          </a:bodyPr>
          <a:lstStyle>
            <a:lvl1pPr indent="-517017" lvl="0" marL="457200" marR="0" rtl="0" algn="l">
              <a:lnSpc>
                <a:spcPct val="90000"/>
              </a:lnSpc>
              <a:spcBef>
                <a:spcPts val="1622"/>
              </a:spcBef>
              <a:spcAft>
                <a:spcPts val="0"/>
              </a:spcAft>
              <a:buClr>
                <a:schemeClr val="dk1"/>
              </a:buClr>
              <a:buSzPts val="4542"/>
              <a:buFont typeface="Arial"/>
              <a:buChar char="•"/>
              <a:defRPr b="0" i="0" sz="45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75805" lvl="1" marL="9144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893"/>
              <a:buFont typeface="Arial"/>
              <a:buChar char="•"/>
              <a:defRPr b="0" i="0" sz="38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4594" lvl="2" marL="13716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Char char="•"/>
              <a:defRPr b="0" i="0" sz="32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4019" lvl="3" marL="18288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4020" lvl="4" marL="22860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4020" lvl="5" marL="27432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4020" lvl="6" marL="32004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4020" lvl="7" marL="36576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4020" lvl="8" marL="4114800" marR="0" rtl="0" algn="l">
              <a:lnSpc>
                <a:spcPct val="9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2920"/>
              <a:buFont typeface="Arial"/>
              <a:buChar char="•"/>
              <a:defRPr b="0" i="0" sz="29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1039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5008500" y="9909904"/>
            <a:ext cx="510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2"/>
              <a:buFont typeface="Arial"/>
              <a:buNone/>
              <a:defRPr b="0" i="0" sz="20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0678500" y="9909904"/>
            <a:ext cx="3402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50" lIns="105925" spcFirstLastPara="1" rIns="105925" wrap="square" tIns="529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5"/>
              <a:buFont typeface="Arial"/>
              <a:buNone/>
              <a:defRPr b="0" i="0" sz="194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00000" y="183857"/>
            <a:ext cx="36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1: Profil Produk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83" y="889960"/>
            <a:ext cx="13555110" cy="9269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600000" y="183857"/>
            <a:ext cx="36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2: Profil Produk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223" y="1375469"/>
            <a:ext cx="12975557" cy="887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3"/>
          <p:cNvGraphicFramePr/>
          <p:nvPr/>
        </p:nvGraphicFramePr>
        <p:xfrm>
          <a:off x="315001" y="749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{53CA1AC3-6CD6-4BDA-AF74-08EC74217534}</a:tableStyleId>
              </a:tblPr>
              <a:tblGrid>
                <a:gridCol w="14340000"/>
              </a:tblGrid>
              <a:tr h="50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KECOCOKAN</a:t>
                      </a:r>
                      <a:r>
                        <a:rPr lang="en-US" sz="2672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(ANTARA PROFIL PELANGGAN DENGAN PROFIL PRODUK)</a:t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688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Google Shape;97;p3"/>
          <p:cNvSpPr txBox="1"/>
          <p:nvPr/>
        </p:nvSpPr>
        <p:spPr>
          <a:xfrm>
            <a:off x="600000" y="183857"/>
            <a:ext cx="8493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3: Merumuskan Value Proposition (11 Elemen / 3 kategori)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4"/>
          <p:cNvGraphicFramePr/>
          <p:nvPr/>
        </p:nvGraphicFramePr>
        <p:xfrm>
          <a:off x="315001" y="749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{53CA1AC3-6CD6-4BDA-AF74-08EC74217534}</a:tableStyleId>
              </a:tblPr>
              <a:tblGrid>
                <a:gridCol w="4780000"/>
                <a:gridCol w="4780000"/>
                <a:gridCol w="4780000"/>
              </a:tblGrid>
              <a:tr h="50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FINANSIAL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EMOSIONAL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SPIRITUAL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688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Google Shape;103;p4"/>
          <p:cNvSpPr txBox="1"/>
          <p:nvPr/>
        </p:nvSpPr>
        <p:spPr>
          <a:xfrm>
            <a:off x="600000" y="183857"/>
            <a:ext cx="8493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4: Merumuskan Value Proposition (11 Elemen / 3 kategori)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5"/>
          <p:cNvGraphicFramePr/>
          <p:nvPr/>
        </p:nvGraphicFramePr>
        <p:xfrm>
          <a:off x="315001" y="763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{53CA1AC3-6CD6-4BDA-AF74-08EC74217534}</a:tableStyleId>
              </a:tblPr>
              <a:tblGrid>
                <a:gridCol w="3585000"/>
                <a:gridCol w="3585000"/>
                <a:gridCol w="3585000"/>
                <a:gridCol w="3585000"/>
              </a:tblGrid>
              <a:tr h="50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RELATIONSHIP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RETENTION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1" marL="71278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REFERRAL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1" marL="71278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rPr lang="en-US" sz="2672" u="none" cap="none" strike="noStrike">
                          <a:solidFill>
                            <a:schemeClr val="lt1"/>
                          </a:solidFill>
                          <a:highlight>
                            <a:srgbClr val="80808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RECOVERY</a:t>
                      </a:r>
                      <a:endParaRPr sz="2672" u="none" cap="none" strike="noStrike">
                        <a:solidFill>
                          <a:schemeClr val="lt1"/>
                        </a:solidFill>
                        <a:highlight>
                          <a:srgbClr val="80808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688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1" marL="71278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1" marL="712782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72"/>
                        <a:buFont typeface="Arial"/>
                        <a:buNone/>
                      </a:pPr>
                      <a:r>
                        <a:t/>
                      </a:r>
                      <a:endParaRPr sz="2672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925" marB="50925" marR="108000" marL="108000">
                    <a:lnL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7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9" name="Google Shape;109;p5"/>
          <p:cNvSpPr txBox="1"/>
          <p:nvPr/>
        </p:nvSpPr>
        <p:spPr>
          <a:xfrm>
            <a:off x="600000" y="183857"/>
            <a:ext cx="521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5: Daftar Ide Program Loyalty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/>
        </p:nvSpPr>
        <p:spPr>
          <a:xfrm>
            <a:off x="600000" y="183857"/>
            <a:ext cx="403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950" lIns="105925" spcFirstLastPara="1" rIns="105925" wrap="square" tIns="5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1" i="0" lang="en-US" sz="18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Kerja 6: Program Loyalty</a:t>
            </a:r>
            <a:endParaRPr b="1" i="0" sz="18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19" y="861704"/>
            <a:ext cx="13540759" cy="869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2024-10-14T03:39:38Z</dcterms:created>
  <dc:creator>JOKO RISTONO</dc:creator>
</cp:coreProperties>
</file>