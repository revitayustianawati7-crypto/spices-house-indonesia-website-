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Great Vibes"/>
      <p:regular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Special Gothic Expanded One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SpecialGothicExpandedOn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GreatVibe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261b736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261b73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5242364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5242364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d5b989d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d5b989d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5242364f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c5242364f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5242364f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c5242364f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5242364f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5242364f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c5242364f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c5242364f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5242364f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c5242364f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5242364f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c5242364f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c5242364f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c5242364f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c5242364f_1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c5242364f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c5242364f_1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c5242364f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c5242364f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c5242364f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>
  <p:cSld name="Whit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 rot="-5400000">
            <a:off x="8917503" y="4911461"/>
            <a:ext cx="12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116927" y="131608"/>
            <a:ext cx="8910147" cy="4880283"/>
            <a:chOff x="0" y="0"/>
            <a:chExt cx="23760391" cy="13014088"/>
          </a:xfrm>
        </p:grpSpPr>
        <p:pic>
          <p:nvPicPr>
            <p:cNvPr descr="Picture 20" id="53" name="Google Shape;53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3551892" y="4982347"/>
              <a:ext cx="170597" cy="26271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29" id="54" name="Google Shape;5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39397" y="0"/>
              <a:ext cx="220994" cy="5271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8" id="55" name="Google Shape;5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2403928"/>
              <a:ext cx="959369" cy="6101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441" y="496666"/>
            <a:ext cx="1396050" cy="5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884625" y="1270738"/>
            <a:ext cx="3327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Build</a:t>
            </a:r>
            <a:endParaRPr sz="5000">
              <a:solidFill>
                <a:schemeClr val="dk1"/>
              </a:solidFill>
              <a:latin typeface="Special Gothic Expanded One"/>
              <a:ea typeface="Special Gothic Expanded One"/>
              <a:cs typeface="Special Gothic Expanded One"/>
              <a:sym typeface="Special Gothic Expanded On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52924" y="2371775"/>
            <a:ext cx="3693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-Working</a:t>
            </a:r>
            <a:endParaRPr sz="5000">
              <a:solidFill>
                <a:schemeClr val="dk1"/>
              </a:solidFill>
              <a:latin typeface="Special Gothic Expanded One"/>
              <a:ea typeface="Special Gothic Expanded One"/>
              <a:cs typeface="Special Gothic Expanded One"/>
              <a:sym typeface="Special Gothic Expanded One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438899" y="182192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Hea   t</a:t>
            </a:r>
            <a:endParaRPr sz="4300">
              <a:solidFill>
                <a:schemeClr val="dk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834050" y="1813438"/>
            <a:ext cx="69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a</a:t>
            </a: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834050" y="2917683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ecial Gothic Expanded One"/>
                <a:ea typeface="Special Gothic Expanded One"/>
                <a:cs typeface="Special Gothic Expanded One"/>
                <a:sym typeface="Special Gothic Expanded One"/>
              </a:rPr>
              <a:t>Brand.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524" y="2010750"/>
            <a:ext cx="422200" cy="5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118199" y="4421690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Prepared by ______________________________________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-12" y="2340900"/>
            <a:ext cx="8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Love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5" name="Google Shape;75;p15"/>
          <p:cNvCxnSpPr>
            <a:stCxn id="74" idx="3"/>
          </p:cNvCxnSpPr>
          <p:nvPr/>
        </p:nvCxnSpPr>
        <p:spPr>
          <a:xfrm>
            <a:off x="865788" y="2571750"/>
            <a:ext cx="8159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7" idx="0"/>
          </p:cNvCxnSpPr>
          <p:nvPr/>
        </p:nvCxnSpPr>
        <p:spPr>
          <a:xfrm rot="10800000">
            <a:off x="4571975" y="147913"/>
            <a:ext cx="0" cy="4493100"/>
          </a:xfrm>
          <a:prstGeom prst="straightConnector1">
            <a:avLst/>
          </a:prstGeom>
          <a:noFill/>
          <a:ln cap="flat" cmpd="sng" w="76200">
            <a:solidFill>
              <a:srgbClr val="00C2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>
            <a:off x="3927875" y="4641013"/>
            <a:ext cx="12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C2D2"/>
                </a:solidFill>
                <a:latin typeface="Poppins"/>
                <a:ea typeface="Poppins"/>
                <a:cs typeface="Poppins"/>
                <a:sym typeface="Poppins"/>
              </a:rPr>
              <a:t>Respect</a:t>
            </a:r>
            <a:endParaRPr b="1" sz="1800">
              <a:solidFill>
                <a:srgbClr val="00C2D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431575" y="3085113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Fungsi Tinggi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Tidak Spesial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Mudah Berpaling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Harga Berbicara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712375" y="3085113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Menarik Perhatian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Mudah Untuk Disukai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Cepat Dilupakan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431575" y="796263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Awareness 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Tinggi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Market Fit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bagus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Digunakan oleh orang terpandang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Tidak ada </a:t>
            </a:r>
            <a:r>
              <a:rPr i="1"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engagement</a:t>
            </a:r>
            <a:endParaRPr i="1"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712375" y="796263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Pelanggan/Pengguna Loyal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Tidak sensitif terhadap harga/fitur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Engagement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tinggi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Bisa menggerakan konsumen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61424" y="147915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1. Brand Axis - The Metrics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-12" y="2340900"/>
            <a:ext cx="8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Love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1" name="Google Shape;91;p16"/>
          <p:cNvCxnSpPr>
            <a:stCxn id="90" idx="3"/>
          </p:cNvCxnSpPr>
          <p:nvPr/>
        </p:nvCxnSpPr>
        <p:spPr>
          <a:xfrm>
            <a:off x="865788" y="2571750"/>
            <a:ext cx="8159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6"/>
          <p:cNvCxnSpPr>
            <a:stCxn id="93" idx="0"/>
          </p:cNvCxnSpPr>
          <p:nvPr/>
        </p:nvCxnSpPr>
        <p:spPr>
          <a:xfrm rot="10800000">
            <a:off x="4571975" y="147913"/>
            <a:ext cx="0" cy="4493100"/>
          </a:xfrm>
          <a:prstGeom prst="straightConnector1">
            <a:avLst/>
          </a:prstGeom>
          <a:noFill/>
          <a:ln cap="flat" cmpd="sng" w="76200">
            <a:solidFill>
              <a:srgbClr val="00C2D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6"/>
          <p:cNvSpPr txBox="1"/>
          <p:nvPr/>
        </p:nvSpPr>
        <p:spPr>
          <a:xfrm>
            <a:off x="3927875" y="4641013"/>
            <a:ext cx="12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C2D2"/>
                </a:solidFill>
                <a:latin typeface="Poppins"/>
                <a:ea typeface="Poppins"/>
                <a:cs typeface="Poppins"/>
                <a:sym typeface="Poppins"/>
              </a:rPr>
              <a:t>Respect</a:t>
            </a:r>
            <a:endParaRPr b="1" sz="1800">
              <a:solidFill>
                <a:srgbClr val="00C2D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61420" y="350175"/>
            <a:ext cx="23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Brand name</a:t>
            </a:r>
            <a:endParaRPr sz="18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906300" y="1262250"/>
            <a:ext cx="14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down the effort has been done to gain respect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6052650" y="3355575"/>
            <a:ext cx="128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down the effort has been done to gain love</a:t>
            </a:r>
            <a:endParaRPr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052650" y="1262250"/>
            <a:ext cx="128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down the moment your brand hit the </a:t>
            </a:r>
            <a:r>
              <a:rPr i="1"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lovemark</a:t>
            </a:r>
            <a:endParaRPr i="1"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1424" y="147915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1. Brand Axis - The Audit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16261" t="0"/>
          <a:stretch/>
        </p:blipFill>
        <p:spPr>
          <a:xfrm>
            <a:off x="3117077" y="165952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5">
            <a:alphaModFix/>
          </a:blip>
          <a:srcRect b="16278" l="4970" r="25801" t="1049"/>
          <a:stretch/>
        </p:blipFill>
        <p:spPr>
          <a:xfrm>
            <a:off x="1599677" y="2582115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5">
            <a:alphaModFix/>
          </a:blip>
          <a:srcRect b="-5297" l="16666" r="17326" t="26470"/>
          <a:stretch/>
        </p:blipFill>
        <p:spPr>
          <a:xfrm>
            <a:off x="4634477" y="2582115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grpSp>
        <p:nvGrpSpPr>
          <p:cNvPr id="109" name="Google Shape;109;p17"/>
          <p:cNvGrpSpPr/>
          <p:nvPr/>
        </p:nvGrpSpPr>
        <p:grpSpPr>
          <a:xfrm>
            <a:off x="3802540" y="1062365"/>
            <a:ext cx="1663800" cy="1136856"/>
            <a:chOff x="3739929" y="1051950"/>
            <a:chExt cx="1663800" cy="1136856"/>
          </a:xfrm>
        </p:grpSpPr>
        <p:sp>
          <p:nvSpPr>
            <p:cNvPr id="110" name="Google Shape;110;p17"/>
            <p:cNvSpPr txBox="1"/>
            <p:nvPr/>
          </p:nvSpPr>
          <p:spPr>
            <a:xfrm>
              <a:off x="3947151" y="1051950"/>
              <a:ext cx="1249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HUMAN TRUTH</a:t>
              </a:r>
              <a:endParaRPr b="1" sz="15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3739929" y="1588506"/>
              <a:ext cx="16638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 is the human tension or the struggles they are facing </a:t>
              </a:r>
              <a:endParaRPr sz="9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>
            <a:off x="2285140" y="3529055"/>
            <a:ext cx="1663800" cy="1096334"/>
            <a:chOff x="2222529" y="3518641"/>
            <a:chExt cx="1663800" cy="1096334"/>
          </a:xfrm>
        </p:grpSpPr>
        <p:sp>
          <p:nvSpPr>
            <p:cNvPr id="113" name="Google Shape;113;p17"/>
            <p:cNvSpPr txBox="1"/>
            <p:nvPr/>
          </p:nvSpPr>
          <p:spPr>
            <a:xfrm>
              <a:off x="2222529" y="3518641"/>
              <a:ext cx="166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PRODUCT TRUTH</a:t>
              </a:r>
              <a:endParaRPr b="1" sz="15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2290075" y="4014675"/>
              <a:ext cx="15288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 is the product differentiation that people can touch and feel</a:t>
              </a:r>
              <a:endParaRPr sz="9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5259190" y="3529055"/>
            <a:ext cx="1785300" cy="1234941"/>
            <a:chOff x="5196579" y="3518641"/>
            <a:chExt cx="1785300" cy="1234941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5257329" y="3518641"/>
              <a:ext cx="166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BRAND</a:t>
              </a:r>
              <a:endParaRPr b="1"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POV</a:t>
              </a:r>
              <a:endParaRPr b="1" sz="15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5196579" y="4014681"/>
              <a:ext cx="17853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 point of view from the brand that people can feel relate and believe in, so it can resolve their tension.</a:t>
              </a:r>
              <a:endParaRPr sz="900">
                <a:solidFill>
                  <a:srgbClr val="FD470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3741790" y="2679877"/>
            <a:ext cx="1785300" cy="1096369"/>
            <a:chOff x="3679179" y="2669463"/>
            <a:chExt cx="1785300" cy="1096369"/>
          </a:xfrm>
        </p:grpSpPr>
        <p:sp>
          <p:nvSpPr>
            <p:cNvPr id="119" name="Google Shape;119;p17"/>
            <p:cNvSpPr txBox="1"/>
            <p:nvPr/>
          </p:nvSpPr>
          <p:spPr>
            <a:xfrm>
              <a:off x="3739929" y="2669463"/>
              <a:ext cx="166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BRAND</a:t>
              </a:r>
              <a:endParaRPr b="1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PURPOSE</a:t>
              </a:r>
              <a:endParaRPr b="1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3679179" y="3165531"/>
              <a:ext cx="1785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The social change that the brand stands for and able to contribute</a:t>
              </a:r>
              <a:endPara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161424" y="147915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2. Brand Triangle - The Theory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5">
            <a:alphaModFix/>
          </a:blip>
          <a:srcRect b="0" l="0" r="16261" t="0"/>
          <a:stretch/>
        </p:blipFill>
        <p:spPr>
          <a:xfrm>
            <a:off x="3106540" y="165952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5">
            <a:alphaModFix/>
          </a:blip>
          <a:srcRect b="16278" l="4970" r="25801" t="1049"/>
          <a:stretch/>
        </p:blipFill>
        <p:spPr>
          <a:xfrm>
            <a:off x="1589140" y="2582115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5">
            <a:alphaModFix/>
          </a:blip>
          <a:srcRect b="-5297" l="16666" r="17326" t="26470"/>
          <a:stretch/>
        </p:blipFill>
        <p:spPr>
          <a:xfrm>
            <a:off x="4623940" y="2582115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4176048" y="781165"/>
            <a:ext cx="895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TRUTH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2505399" y="3279115"/>
            <a:ext cx="12021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TRUTH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309402" y="3279103"/>
            <a:ext cx="1663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POV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792002" y="2606975"/>
            <a:ext cx="1663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PURPOSE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61424" y="147915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2. Brand Triangle - The Result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964873" y="1359940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434148" y="3799865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469048" y="3799865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3951598" y="3087465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246150" y="486625"/>
            <a:ext cx="3992700" cy="4321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Upload an image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that represents your manifesto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the most on this box</a:t>
            </a:r>
            <a:endParaRPr sz="900"/>
          </a:p>
        </p:txBody>
      </p:sp>
      <p:sp>
        <p:nvSpPr>
          <p:cNvPr id="149" name="Google Shape;149;p19"/>
          <p:cNvSpPr txBox="1"/>
          <p:nvPr/>
        </p:nvSpPr>
        <p:spPr>
          <a:xfrm>
            <a:off x="4328275" y="393262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Wrote down your </a:t>
            </a:r>
            <a:r>
              <a:rPr lang="en" sz="900">
                <a:solidFill>
                  <a:schemeClr val="dk1"/>
                </a:solidFill>
              </a:rPr>
              <a:t>manifesto here: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61424" y="147915"/>
            <a:ext cx="33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3. Brand Manifesto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409200" y="1980750"/>
            <a:ext cx="832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  T  E  P  P  S</a:t>
            </a:r>
            <a:endParaRPr b="1" sz="8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64425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1775650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2902200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289800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726775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6937975" y="1736850"/>
            <a:ext cx="1669800" cy="1669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2393250" y="646025"/>
            <a:ext cx="4357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bisa membuat pesan kita efektif dan berdampak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7201375" y="35604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990175" y="35604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327425" y="3560400"/>
            <a:ext cx="15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Practical Value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977500" y="3560400"/>
            <a:ext cx="15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Emotion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813300" y="3560400"/>
            <a:ext cx="15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Trigger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02075" y="3560400"/>
            <a:ext cx="15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Social Currency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8108" y="4487138"/>
            <a:ext cx="371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>
                <a:solidFill>
                  <a:srgbClr val="12100B"/>
                </a:solidFill>
                <a:highlight>
                  <a:srgbClr val="FFFFFF"/>
                </a:highlight>
              </a:rPr>
              <a:t>Jonah Berger: 6 Key STEPPS To Creating Contagious Content</a:t>
            </a:r>
            <a:endParaRPr sz="900">
              <a:solidFill>
                <a:srgbClr val="12100B"/>
              </a:solidFill>
              <a:highlight>
                <a:srgbClr val="FFFFFF"/>
              </a:highlight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6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4. Brand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Strategy - The Theory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 rotWithShape="1">
          <a:blip r:embed="rId5">
            <a:alphaModFix/>
          </a:blip>
          <a:srcRect b="0" l="0" r="16261" t="0"/>
          <a:stretch/>
        </p:blipFill>
        <p:spPr>
          <a:xfrm>
            <a:off x="5923292" y="1363638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6992800" y="1978850"/>
            <a:ext cx="895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TRUTH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46079" y="29074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46079" y="1637149"/>
            <a:ext cx="15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Social Currency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37675" y="398375"/>
            <a:ext cx="5053200" cy="119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237675" y="2004812"/>
            <a:ext cx="5053200" cy="119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46079" y="3262287"/>
            <a:ext cx="15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Emotion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37675" y="3611250"/>
            <a:ext cx="5053200" cy="119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68400" y="2571750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4. Brand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16261" t="0"/>
          <a:stretch/>
        </p:blipFill>
        <p:spPr>
          <a:xfrm>
            <a:off x="4980342" y="2079439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6049850" y="2694651"/>
            <a:ext cx="895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TRUTH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156494" y="12024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Trigger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56494" y="1716049"/>
            <a:ext cx="15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Practical Value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37675" y="398374"/>
            <a:ext cx="5053200" cy="125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237675" y="2085349"/>
            <a:ext cx="5053200" cy="125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5">
            <a:alphaModFix/>
          </a:blip>
          <a:srcRect b="16278" l="4970" r="25801" t="1049"/>
          <a:stretch/>
        </p:blipFill>
        <p:spPr>
          <a:xfrm rot="10800000">
            <a:off x="5949792" y="647849"/>
            <a:ext cx="3034800" cy="24162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6654600" y="647850"/>
            <a:ext cx="162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TRUTH</a:t>
            </a:r>
            <a:endParaRPr b="1" sz="1100">
              <a:solidFill>
                <a:srgbClr val="FD47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825450" y="3342650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6794900" y="967950"/>
            <a:ext cx="1344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4. Brand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/>
          <p:nvPr/>
        </p:nvSpPr>
        <p:spPr>
          <a:xfrm>
            <a:off x="156500" y="2922669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156504" y="12025"/>
            <a:ext cx="19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Structure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156500" y="993912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156500" y="1945570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73674" y="1700813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Setiap kali </a:t>
            </a:r>
            <a:r>
              <a:rPr i="1" lang="en" sz="900">
                <a:solidFill>
                  <a:schemeClr val="dk1"/>
                </a:solidFill>
              </a:rPr>
              <a:t>(Trigger)</a:t>
            </a:r>
            <a:r>
              <a:rPr lang="en" sz="900">
                <a:solidFill>
                  <a:schemeClr val="dk1"/>
                </a:solidFill>
              </a:rPr>
              <a:t> terjadi, </a:t>
            </a:r>
            <a:r>
              <a:rPr i="1" lang="en" sz="900">
                <a:solidFill>
                  <a:schemeClr val="dk1"/>
                </a:solidFill>
              </a:rPr>
              <a:t>(Public)</a:t>
            </a:r>
            <a:r>
              <a:rPr lang="en" sz="900">
                <a:solidFill>
                  <a:schemeClr val="dk1"/>
                </a:solidFill>
              </a:rPr>
              <a:t> selalu…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73674" y="2666498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Mereka merasa (Emotion) karena…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3674" y="3631719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Sampai akhirnya mereka menemukan cara (Practical Value).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73674" y="736212"/>
            <a:ext cx="3259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Cerita ini lagi ramai dibagikan, karena… (Social Currency)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5. Brand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56498" y="350384"/>
            <a:ext cx="27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A.The Click Bait</a:t>
            </a:r>
            <a:endParaRPr b="1"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156500" y="3889417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/>
          <p:nvPr/>
        </p:nvSpPr>
        <p:spPr>
          <a:xfrm>
            <a:off x="156500" y="2922669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156504" y="12025"/>
            <a:ext cx="19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Structure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156500" y="993912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156500" y="1945570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3674" y="1700813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Perasaan itu selalu muncul saat (Trigger).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73674" y="2666498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Sampai akhirnya (Public) menemukan cara (Practical Value).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73674" y="3631719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Dan cerita ini pun layak dibagikan karena (Social Currency).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73674" y="736212"/>
            <a:ext cx="3259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(Emotion) itu rasanya…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5. Brand Communication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156498" y="350384"/>
            <a:ext cx="27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</a:t>
            </a: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Emotional</a:t>
            </a:r>
            <a:endParaRPr b="1"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156500" y="3889417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156500" y="2922669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56504" y="12025"/>
            <a:ext cx="19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Structure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156500" y="993912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156500" y="1945570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5. Brand Communication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156498" y="350384"/>
            <a:ext cx="27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.The Plot Twist</a:t>
            </a:r>
            <a:endParaRPr b="1"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156500" y="3889417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73674" y="1700813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Lalu (Public) melakukan (Unpractical Solution).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73674" y="2666498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Sampai mereka sadar, semua ini terjadi setiap kali seharusnya mereka (Practical Value).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73674" y="3631719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Dan cerita kecil ini pun jadi (Social Currency).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73674" y="736212"/>
            <a:ext cx="3259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(Trigger) membuat kita merasa (Emotion).</a:t>
            </a:r>
            <a:endParaRPr sz="9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/>
          <p:nvPr/>
        </p:nvSpPr>
        <p:spPr>
          <a:xfrm>
            <a:off x="156500" y="2922669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23865" l="6005" r="65680" t="14656"/>
          <a:stretch/>
        </p:blipFill>
        <p:spPr>
          <a:xfrm>
            <a:off x="8643350" y="4704225"/>
            <a:ext cx="395276" cy="3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350" y="4729350"/>
            <a:ext cx="234375" cy="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156504" y="12025"/>
            <a:ext cx="19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Structure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156500" y="993912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2902" y="4808527"/>
            <a:ext cx="171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Build a Heart Working Brand</a:t>
            </a:r>
            <a:endParaRPr sz="7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156500" y="1945570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431425" y="147925"/>
            <a:ext cx="360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5. Brand Communication Strategy - Story Building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156498" y="350384"/>
            <a:ext cx="27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1" i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.The Character</a:t>
            </a:r>
            <a:endParaRPr b="1"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156500" y="3889417"/>
            <a:ext cx="8685000" cy="72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73674" y="1700813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Mereka sering merasa (Emotion), terutama saat (Trigger)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73674" y="2666498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Karena itu, mereka butuh (Practical Value)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73674" y="3631719"/>
            <a:ext cx="5053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Semakin banyak orang yang akan bergabung dengan mereka karena </a:t>
            </a:r>
            <a:r>
              <a:rPr lang="en" sz="900">
                <a:solidFill>
                  <a:srgbClr val="000000"/>
                </a:solidFill>
              </a:rPr>
              <a:t>(Social Currency).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73674" y="736212"/>
            <a:ext cx="3259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Ini tentang (Public)</a:t>
            </a:r>
            <a:endParaRPr sz="9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